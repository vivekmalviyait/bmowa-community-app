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7620000"/>
  <p:notesSz cx="762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52725" cy="7620000"/>
          </a:xfrm>
          <a:prstGeom prst="rect">
            <a:avLst/>
          </a:prstGeom>
          <a:solidFill>
            <a:srgbClr val="FCFBF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9525" cy="7620000"/>
          </a:xfrm>
          <a:prstGeom prst="rect">
            <a:avLst/>
          </a:prstGeom>
          <a:solidFill>
            <a:srgbClr val="E3DCC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21853"/>
            <a:ext cx="342900" cy="2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381000"/>
            <a:ext cx="148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BlueJay Malgudi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6750" y="609600"/>
            <a:ext cx="148207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2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JOURNAL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28600" y="1176338"/>
            <a:ext cx="2286000" cy="376238"/>
          </a:xfrm>
          <a:prstGeom prst="roundRect">
            <a:avLst>
              <a:gd name="adj" fmla="val 30380"/>
            </a:avLst>
          </a:prstGeom>
          <a:solidFill>
            <a:srgbClr val="902C37">
              <a:alpha val="9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78731"/>
            <a:ext cx="28575" cy="171450"/>
          </a:xfrm>
          <a:prstGeom prst="roundRect">
            <a:avLst>
              <a:gd name="adj" fmla="val 50000"/>
            </a:avLst>
          </a:prstGeom>
          <a:solidFill>
            <a:srgbClr val="8C2D33"/>
          </a:solidFill>
          <a:ln/>
        </p:spPr>
      </p:sp>
      <p:sp>
        <p:nvSpPr>
          <p:cNvPr id="9" name="Text 6"/>
          <p:cNvSpPr/>
          <p:nvPr/>
        </p:nvSpPr>
        <p:spPr>
          <a:xfrm>
            <a:off x="361950" y="1281113"/>
            <a:ext cx="1772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77304" y="1290638"/>
            <a:ext cx="55810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61950" y="1676400"/>
            <a:ext cx="18060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80653" y="1685925"/>
            <a:ext cx="5920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61950" y="2071688"/>
            <a:ext cx="179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79760" y="2074069"/>
            <a:ext cx="47468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61950" y="2452688"/>
            <a:ext cx="2000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00075" y="2462213"/>
            <a:ext cx="6555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28600" y="6891338"/>
            <a:ext cx="2286000" cy="9525"/>
          </a:xfrm>
          <a:prstGeom prst="rect">
            <a:avLst/>
          </a:prstGeom>
          <a:solidFill>
            <a:srgbClr val="E3DCCB"/>
          </a:solidFill>
          <a:ln/>
        </p:spPr>
      </p:sp>
      <p:sp>
        <p:nvSpPr>
          <p:cNvPr id="18" name="Text 15"/>
          <p:cNvSpPr/>
          <p:nvPr/>
        </p:nvSpPr>
        <p:spPr>
          <a:xfrm>
            <a:off x="190500" y="7091363"/>
            <a:ext cx="23622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750" spc="3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2024 · Editorial Edition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86125" y="533400"/>
            <a:ext cx="912590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286125" y="787152"/>
            <a:ext cx="912590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54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Spotlight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3286125" y="1278582"/>
            <a:ext cx="912590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45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community at a glance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3286125" y="1728639"/>
            <a:ext cx="457200" cy="9525"/>
          </a:xfrm>
          <a:prstGeom prst="rect">
            <a:avLst/>
          </a:prstGeom>
          <a:solidFill>
            <a:srgbClr val="292420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286125" y="2119164"/>
            <a:ext cx="8296275" cy="1620143"/>
          </a:xfrm>
          <a:prstGeom prst="roundRect">
            <a:avLst>
              <a:gd name="adj" fmla="val 1411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600450" y="2433489"/>
            <a:ext cx="8434387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HOME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600450" y="2672060"/>
            <a:ext cx="8434387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spc="-42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BlueJay Malgudi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3600450" y="3060650"/>
            <a:ext cx="843438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running smoothly today ✓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3286125" y="4272707"/>
            <a:ext cx="1420847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33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Health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0687496" y="4301058"/>
            <a:ext cx="894904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780812" y="4401294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30" name="Text 27"/>
          <p:cNvSpPr/>
          <p:nvPr/>
        </p:nvSpPr>
        <p:spPr>
          <a:xfrm>
            <a:off x="10898907" y="4348683"/>
            <a:ext cx="651123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Status</a:t>
            </a:r>
            <a:endParaRPr lang="en-US" sz="825" dirty="0"/>
          </a:p>
        </p:txBody>
      </p:sp>
      <p:sp>
        <p:nvSpPr>
          <p:cNvPr id="31" name="Shape 28"/>
          <p:cNvSpPr/>
          <p:nvPr/>
        </p:nvSpPr>
        <p:spPr>
          <a:xfrm>
            <a:off x="3286125" y="4749180"/>
            <a:ext cx="2571750" cy="2086719"/>
          </a:xfrm>
          <a:prstGeom prst="roundRect">
            <a:avLst>
              <a:gd name="adj" fmla="val 1095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524250" y="5001816"/>
            <a:ext cx="3900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085904" y="4987305"/>
            <a:ext cx="533846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179219" y="5087541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35" name="Text 32"/>
          <p:cNvSpPr/>
          <p:nvPr/>
        </p:nvSpPr>
        <p:spPr>
          <a:xfrm>
            <a:off x="5297314" y="5053980"/>
            <a:ext cx="2900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3524250" y="5397326"/>
            <a:ext cx="230505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524250" y="5635898"/>
            <a:ext cx="23050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5168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L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3524250" y="5982519"/>
            <a:ext cx="2305050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100k Litres capacity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3524250" y="6326832"/>
            <a:ext cx="2095500" cy="47625"/>
          </a:xfrm>
          <a:prstGeom prst="roundRect">
            <a:avLst>
              <a:gd name="adj" fmla="val 50000"/>
            </a:avLst>
          </a:prstGeom>
          <a:solidFill>
            <a:srgbClr val="EFEADD"/>
          </a:solidFill>
          <a:ln/>
        </p:spPr>
      </p:sp>
      <p:sp>
        <p:nvSpPr>
          <p:cNvPr id="40" name="Shape 37"/>
          <p:cNvSpPr/>
          <p:nvPr/>
        </p:nvSpPr>
        <p:spPr>
          <a:xfrm>
            <a:off x="3524250" y="6326832"/>
            <a:ext cx="16764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84A0">
                  <a:alpha val="100000"/>
                </a:srgbClr>
              </a:gs>
              <a:gs pos="100000">
                <a:srgbClr val="51687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1" name="Text 38"/>
          <p:cNvSpPr/>
          <p:nvPr/>
        </p:nvSpPr>
        <p:spPr>
          <a:xfrm>
            <a:off x="3314700" y="6435403"/>
            <a:ext cx="230505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825" dirty="0"/>
          </a:p>
        </p:txBody>
      </p:sp>
      <p:sp>
        <p:nvSpPr>
          <p:cNvPr id="42" name="Shape 39"/>
          <p:cNvSpPr/>
          <p:nvPr/>
        </p:nvSpPr>
        <p:spPr>
          <a:xfrm>
            <a:off x="6029325" y="4749180"/>
            <a:ext cx="2571750" cy="2086719"/>
          </a:xfrm>
          <a:prstGeom prst="roundRect">
            <a:avLst>
              <a:gd name="adj" fmla="val 1095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267450" y="5001816"/>
            <a:ext cx="3900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7829104" y="4987305"/>
            <a:ext cx="533846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22419" y="5087541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46" name="Text 43"/>
          <p:cNvSpPr/>
          <p:nvPr/>
        </p:nvSpPr>
        <p:spPr>
          <a:xfrm>
            <a:off x="8040514" y="5053980"/>
            <a:ext cx="2900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6267450" y="5397326"/>
            <a:ext cx="230505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STAFF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267450" y="5635898"/>
            <a:ext cx="23050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Guards</a:t>
            </a:r>
            <a:endParaRPr lang="en-US" sz="2100" dirty="0"/>
          </a:p>
        </p:txBody>
      </p:sp>
      <p:sp>
        <p:nvSpPr>
          <p:cNvPr id="49" name="Text 46"/>
          <p:cNvSpPr/>
          <p:nvPr/>
        </p:nvSpPr>
        <p:spPr>
          <a:xfrm>
            <a:off x="6267450" y="5982519"/>
            <a:ext cx="2305050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positions covered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6267450" y="6326832"/>
            <a:ext cx="2095500" cy="47625"/>
          </a:xfrm>
          <a:prstGeom prst="roundRect">
            <a:avLst>
              <a:gd name="adj" fmla="val 50000"/>
            </a:avLst>
          </a:prstGeom>
          <a:solidFill>
            <a:srgbClr val="EFEADD"/>
          </a:solidFill>
          <a:ln/>
        </p:spPr>
      </p:sp>
      <p:sp>
        <p:nvSpPr>
          <p:cNvPr id="51" name="Shape 48"/>
          <p:cNvSpPr/>
          <p:nvPr/>
        </p:nvSpPr>
        <p:spPr>
          <a:xfrm>
            <a:off x="6267450" y="6326832"/>
            <a:ext cx="20955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977A">
                  <a:alpha val="100000"/>
                </a:srgbClr>
              </a:gs>
              <a:gs pos="100000">
                <a:srgbClr val="2F543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2" name="Text 49"/>
          <p:cNvSpPr/>
          <p:nvPr/>
        </p:nvSpPr>
        <p:spPr>
          <a:xfrm>
            <a:off x="6057900" y="6435403"/>
            <a:ext cx="230505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825" dirty="0"/>
          </a:p>
        </p:txBody>
      </p:sp>
      <p:sp>
        <p:nvSpPr>
          <p:cNvPr id="53" name="Shape 50"/>
          <p:cNvSpPr/>
          <p:nvPr/>
        </p:nvSpPr>
        <p:spPr>
          <a:xfrm>
            <a:off x="8772525" y="4749180"/>
            <a:ext cx="2571750" cy="2086719"/>
          </a:xfrm>
          <a:prstGeom prst="roundRect">
            <a:avLst>
              <a:gd name="adj" fmla="val 10955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9010650" y="5001816"/>
            <a:ext cx="3900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🛗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10572304" y="4987305"/>
            <a:ext cx="533846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665619" y="5087541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57" name="Text 54"/>
          <p:cNvSpPr/>
          <p:nvPr/>
        </p:nvSpPr>
        <p:spPr>
          <a:xfrm>
            <a:off x="10783714" y="5053980"/>
            <a:ext cx="2900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25" dirty="0"/>
          </a:p>
        </p:txBody>
      </p:sp>
      <p:sp>
        <p:nvSpPr>
          <p:cNvPr id="58" name="Text 55"/>
          <p:cNvSpPr/>
          <p:nvPr/>
        </p:nvSpPr>
        <p:spPr>
          <a:xfrm>
            <a:off x="9010650" y="5397326"/>
            <a:ext cx="230505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UPTIME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9010650" y="5635898"/>
            <a:ext cx="23050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</a:t>
            </a:r>
            <a:endParaRPr lang="en-US" sz="2100" dirty="0"/>
          </a:p>
        </p:txBody>
      </p:sp>
      <p:sp>
        <p:nvSpPr>
          <p:cNvPr id="60" name="Text 57"/>
          <p:cNvSpPr/>
          <p:nvPr/>
        </p:nvSpPr>
        <p:spPr>
          <a:xfrm>
            <a:off x="9010650" y="5982519"/>
            <a:ext cx="2305050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 days average</a:t>
            </a:r>
            <a:endParaRPr lang="en-US" sz="975" dirty="0"/>
          </a:p>
        </p:txBody>
      </p:sp>
      <p:sp>
        <p:nvSpPr>
          <p:cNvPr id="61" name="Shape 58"/>
          <p:cNvSpPr/>
          <p:nvPr/>
        </p:nvSpPr>
        <p:spPr>
          <a:xfrm>
            <a:off x="9010650" y="6326832"/>
            <a:ext cx="2095500" cy="47625"/>
          </a:xfrm>
          <a:prstGeom prst="roundRect">
            <a:avLst>
              <a:gd name="adj" fmla="val 50000"/>
            </a:avLst>
          </a:prstGeom>
          <a:solidFill>
            <a:srgbClr val="EFEADD"/>
          </a:solidFill>
          <a:ln/>
        </p:spPr>
      </p:sp>
      <p:sp>
        <p:nvSpPr>
          <p:cNvPr id="62" name="Shape 59"/>
          <p:cNvSpPr/>
          <p:nvPr/>
        </p:nvSpPr>
        <p:spPr>
          <a:xfrm>
            <a:off x="9010650" y="6326832"/>
            <a:ext cx="2094384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302F">
                  <a:alpha val="100000"/>
                </a:srgbClr>
              </a:gs>
              <a:gs pos="100000">
                <a:srgbClr val="571F25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3" name="Text 60"/>
          <p:cNvSpPr/>
          <p:nvPr/>
        </p:nvSpPr>
        <p:spPr>
          <a:xfrm>
            <a:off x="8801100" y="6435403"/>
            <a:ext cx="230505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99.95 %</a:t>
            </a:r>
            <a:endParaRPr lang="en-US" sz="825" dirty="0"/>
          </a:p>
        </p:txBody>
      </p:sp>
      <p:sp>
        <p:nvSpPr>
          <p:cNvPr id="64" name="Text 61"/>
          <p:cNvSpPr/>
          <p:nvPr/>
        </p:nvSpPr>
        <p:spPr>
          <a:xfrm>
            <a:off x="3286125" y="7445499"/>
            <a:ext cx="1178272" cy="268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spc="-33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Announcements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0808047" y="7526462"/>
            <a:ext cx="66578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→</a:t>
            </a:r>
            <a:endParaRPr lang="en-US" sz="975" dirty="0"/>
          </a:p>
        </p:txBody>
      </p:sp>
      <p:sp>
        <p:nvSpPr>
          <p:cNvPr id="66" name="Shape 63"/>
          <p:cNvSpPr/>
          <p:nvPr/>
        </p:nvSpPr>
        <p:spPr>
          <a:xfrm>
            <a:off x="3286125" y="7911257"/>
            <a:ext cx="8296275" cy="1334393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3505200" y="8111282"/>
            <a:ext cx="903684" cy="257621"/>
          </a:xfrm>
          <a:prstGeom prst="roundRect">
            <a:avLst>
              <a:gd name="adj" fmla="val 50000"/>
            </a:avLst>
          </a:prstGeom>
          <a:solidFill>
            <a:srgbClr val="F7DEDC"/>
          </a:solidFill>
          <a:ln w="9525">
            <a:solidFill>
              <a:srgbClr val="AE322C">
                <a:alpha val="16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621405" y="8158907"/>
            <a:ext cx="747474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03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825" dirty="0"/>
          </a:p>
        </p:txBody>
      </p:sp>
      <p:sp>
        <p:nvSpPr>
          <p:cNvPr id="69" name="Text 66"/>
          <p:cNvSpPr/>
          <p:nvPr/>
        </p:nvSpPr>
        <p:spPr>
          <a:xfrm>
            <a:off x="4504134" y="8158907"/>
            <a:ext cx="64159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Jun 2026</a:t>
            </a:r>
            <a:endParaRPr lang="en-US" sz="825" dirty="0"/>
          </a:p>
        </p:txBody>
      </p:sp>
      <p:sp>
        <p:nvSpPr>
          <p:cNvPr id="70" name="Text 67"/>
          <p:cNvSpPr/>
          <p:nvPr/>
        </p:nvSpPr>
        <p:spPr>
          <a:xfrm>
            <a:off x="3505200" y="8445103"/>
            <a:ext cx="4182978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Maintenance Scheduled</a:t>
            </a:r>
            <a:endParaRPr lang="en-US" sz="1125" dirty="0"/>
          </a:p>
        </p:txBody>
      </p:sp>
      <p:sp>
        <p:nvSpPr>
          <p:cNvPr id="71" name="Text 68"/>
          <p:cNvSpPr/>
          <p:nvPr/>
        </p:nvSpPr>
        <p:spPr>
          <a:xfrm>
            <a:off x="3505200" y="8723709"/>
            <a:ext cx="418297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tank cleaning and lift servicing this Saturday, 8 AM – 2 PM.</a:t>
            </a:r>
            <a:endParaRPr lang="en-US" sz="975" dirty="0"/>
          </a:p>
        </p:txBody>
      </p:sp>
      <p:sp>
        <p:nvSpPr>
          <p:cNvPr id="72" name="Text 69"/>
          <p:cNvSpPr/>
          <p:nvPr/>
        </p:nvSpPr>
        <p:spPr>
          <a:xfrm>
            <a:off x="11297394" y="8111282"/>
            <a:ext cx="142131" cy="97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50" dirty="0"/>
          </a:p>
        </p:txBody>
      </p:sp>
      <p:sp>
        <p:nvSpPr>
          <p:cNvPr id="73" name="Shape 70"/>
          <p:cNvSpPr/>
          <p:nvPr/>
        </p:nvSpPr>
        <p:spPr>
          <a:xfrm>
            <a:off x="3286125" y="9359950"/>
            <a:ext cx="8296275" cy="1334393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74" name="Shape 71"/>
          <p:cNvSpPr/>
          <p:nvPr/>
        </p:nvSpPr>
        <p:spPr>
          <a:xfrm>
            <a:off x="3505200" y="9559975"/>
            <a:ext cx="749573" cy="257621"/>
          </a:xfrm>
          <a:prstGeom prst="roundRect">
            <a:avLst>
              <a:gd name="adj" fmla="val 50000"/>
            </a:avLst>
          </a:prstGeom>
          <a:solidFill>
            <a:srgbClr val="F6ECCF"/>
          </a:solidFill>
          <a:ln w="9525">
            <a:solidFill>
              <a:srgbClr val="BB890C">
                <a:alpha val="16000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621405" y="9607600"/>
            <a:ext cx="593363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Amenities</a:t>
            </a:r>
            <a:endParaRPr lang="en-US" sz="825" dirty="0"/>
          </a:p>
        </p:txBody>
      </p:sp>
      <p:sp>
        <p:nvSpPr>
          <p:cNvPr id="76" name="Text 73"/>
          <p:cNvSpPr/>
          <p:nvPr/>
        </p:nvSpPr>
        <p:spPr>
          <a:xfrm>
            <a:off x="4350023" y="9607600"/>
            <a:ext cx="62031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Jun 2026</a:t>
            </a:r>
            <a:endParaRPr lang="en-US" sz="825" dirty="0"/>
          </a:p>
        </p:txBody>
      </p:sp>
      <p:sp>
        <p:nvSpPr>
          <p:cNvPr id="77" name="Text 74"/>
          <p:cNvSpPr/>
          <p:nvPr/>
        </p:nvSpPr>
        <p:spPr>
          <a:xfrm>
            <a:off x="3505200" y="9893796"/>
            <a:ext cx="398472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Gym Equipment Arrived</a:t>
            </a:r>
            <a:endParaRPr lang="en-US" sz="1125" dirty="0"/>
          </a:p>
        </p:txBody>
      </p:sp>
      <p:sp>
        <p:nvSpPr>
          <p:cNvPr id="78" name="Text 75"/>
          <p:cNvSpPr/>
          <p:nvPr/>
        </p:nvSpPr>
        <p:spPr>
          <a:xfrm>
            <a:off x="3505200" y="10172402"/>
            <a:ext cx="3984724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treadmills and weight stations now open for all residents.</a:t>
            </a:r>
            <a:endParaRPr lang="en-US" sz="975" dirty="0"/>
          </a:p>
        </p:txBody>
      </p:sp>
      <p:sp>
        <p:nvSpPr>
          <p:cNvPr id="79" name="Text 76"/>
          <p:cNvSpPr/>
          <p:nvPr/>
        </p:nvSpPr>
        <p:spPr>
          <a:xfrm>
            <a:off x="11297394" y="9559975"/>
            <a:ext cx="142131" cy="97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50" dirty="0"/>
          </a:p>
        </p:txBody>
      </p:sp>
      <p:sp>
        <p:nvSpPr>
          <p:cNvPr id="80" name="Shape 77"/>
          <p:cNvSpPr/>
          <p:nvPr/>
        </p:nvSpPr>
        <p:spPr>
          <a:xfrm>
            <a:off x="3286125" y="10808643"/>
            <a:ext cx="8296275" cy="1334393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3505200" y="11008668"/>
            <a:ext cx="655737" cy="257621"/>
          </a:xfrm>
          <a:prstGeom prst="roundRect">
            <a:avLst>
              <a:gd name="adj" fmla="val 50000"/>
            </a:avLst>
          </a:prstGeom>
          <a:solidFill>
            <a:srgbClr val="F7DEDC"/>
          </a:solidFill>
          <a:ln w="9525">
            <a:solidFill>
              <a:srgbClr val="AE322C">
                <a:alpha val="1600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3621405" y="11056293"/>
            <a:ext cx="499527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03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</a:t>
            </a:r>
            <a:endParaRPr lang="en-US" sz="825" dirty="0"/>
          </a:p>
        </p:txBody>
      </p:sp>
      <p:sp>
        <p:nvSpPr>
          <p:cNvPr id="83" name="Text 80"/>
          <p:cNvSpPr/>
          <p:nvPr/>
        </p:nvSpPr>
        <p:spPr>
          <a:xfrm>
            <a:off x="4256187" y="11056293"/>
            <a:ext cx="735657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May 2026</a:t>
            </a:r>
            <a:endParaRPr lang="en-US" sz="825" dirty="0"/>
          </a:p>
        </p:txBody>
      </p:sp>
      <p:sp>
        <p:nvSpPr>
          <p:cNvPr id="84" name="Text 81"/>
          <p:cNvSpPr/>
          <p:nvPr/>
        </p:nvSpPr>
        <p:spPr>
          <a:xfrm>
            <a:off x="3505200" y="11342489"/>
            <a:ext cx="48787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General Meeting</a:t>
            </a:r>
            <a:endParaRPr lang="en-US" sz="1125" dirty="0"/>
          </a:p>
        </p:txBody>
      </p:sp>
      <p:sp>
        <p:nvSpPr>
          <p:cNvPr id="85" name="Text 82"/>
          <p:cNvSpPr/>
          <p:nvPr/>
        </p:nvSpPr>
        <p:spPr>
          <a:xfrm>
            <a:off x="3505200" y="11621095"/>
            <a:ext cx="48787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AGM on June 15th at 6 PM in the community hall. All homeowners welcome.</a:t>
            </a:r>
            <a:endParaRPr lang="en-US" sz="975" dirty="0"/>
          </a:p>
        </p:txBody>
      </p:sp>
      <p:sp>
        <p:nvSpPr>
          <p:cNvPr id="86" name="Text 83"/>
          <p:cNvSpPr/>
          <p:nvPr/>
        </p:nvSpPr>
        <p:spPr>
          <a:xfrm>
            <a:off x="11297394" y="11008668"/>
            <a:ext cx="142131" cy="97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3286125" y="12257336"/>
            <a:ext cx="8296275" cy="1334393"/>
          </a:xfrm>
          <a:prstGeom prst="roundRect">
            <a:avLst>
              <a:gd name="adj" fmla="val 1713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3505200" y="12457361"/>
            <a:ext cx="571500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621405" y="12504986"/>
            <a:ext cx="415290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825" dirty="0"/>
          </a:p>
        </p:txBody>
      </p:sp>
      <p:sp>
        <p:nvSpPr>
          <p:cNvPr id="90" name="Text 87"/>
          <p:cNvSpPr/>
          <p:nvPr/>
        </p:nvSpPr>
        <p:spPr>
          <a:xfrm>
            <a:off x="4171950" y="12504986"/>
            <a:ext cx="733574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May 2026</a:t>
            </a:r>
            <a:endParaRPr lang="en-US" sz="825" dirty="0"/>
          </a:p>
        </p:txBody>
      </p:sp>
      <p:sp>
        <p:nvSpPr>
          <p:cNvPr id="91" name="Text 88"/>
          <p:cNvSpPr/>
          <p:nvPr/>
        </p:nvSpPr>
        <p:spPr>
          <a:xfrm>
            <a:off x="3505200" y="12791182"/>
            <a:ext cx="452186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Zones Repainted</a:t>
            </a:r>
            <a:endParaRPr lang="en-US" sz="1125" dirty="0"/>
          </a:p>
        </p:txBody>
      </p:sp>
      <p:sp>
        <p:nvSpPr>
          <p:cNvPr id="92" name="Text 89"/>
          <p:cNvSpPr/>
          <p:nvPr/>
        </p:nvSpPr>
        <p:spPr>
          <a:xfrm>
            <a:off x="3505200" y="13069788"/>
            <a:ext cx="452186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Basement zones repainted — please park in your designated slot only.</a:t>
            </a:r>
            <a:endParaRPr lang="en-US" sz="975" dirty="0"/>
          </a:p>
        </p:txBody>
      </p:sp>
      <p:sp>
        <p:nvSpPr>
          <p:cNvPr id="93" name="Text 90"/>
          <p:cNvSpPr/>
          <p:nvPr/>
        </p:nvSpPr>
        <p:spPr>
          <a:xfrm>
            <a:off x="11297394" y="12457361"/>
            <a:ext cx="142131" cy="972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350" dirty="0"/>
          </a:p>
        </p:txBody>
      </p:sp>
      <p:sp>
        <p:nvSpPr>
          <p:cNvPr id="94" name="Shape 91"/>
          <p:cNvSpPr/>
          <p:nvPr/>
        </p:nvSpPr>
        <p:spPr>
          <a:xfrm>
            <a:off x="9363075" y="4493121"/>
            <a:ext cx="2676525" cy="2974479"/>
          </a:xfrm>
          <a:prstGeom prst="roundRect">
            <a:avLst>
              <a:gd name="adj" fmla="val 4982"/>
            </a:avLst>
          </a:prstGeom>
          <a:solidFill>
            <a:srgbClr val="FAF9F7">
              <a:alpha val="78000"/>
            </a:srgbClr>
          </a:solidFill>
          <a:ln w="4763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95" name="Text 92"/>
          <p:cNvSpPr/>
          <p:nvPr/>
        </p:nvSpPr>
        <p:spPr>
          <a:xfrm>
            <a:off x="9501188" y="4617913"/>
            <a:ext cx="45593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11768138" y="4602659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97" name="Text 94"/>
          <p:cNvSpPr/>
          <p:nvPr/>
        </p:nvSpPr>
        <p:spPr>
          <a:xfrm>
            <a:off x="9501188" y="4916984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9501188" y="5145584"/>
            <a:ext cx="66094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863" dirty="0"/>
          </a:p>
        </p:txBody>
      </p:sp>
      <p:sp>
        <p:nvSpPr>
          <p:cNvPr id="99" name="Shape 96"/>
          <p:cNvSpPr/>
          <p:nvPr/>
        </p:nvSpPr>
        <p:spPr>
          <a:xfrm>
            <a:off x="9501188" y="5346502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100" name="Shape 97"/>
          <p:cNvSpPr/>
          <p:nvPr/>
        </p:nvSpPr>
        <p:spPr>
          <a:xfrm>
            <a:off x="9520238" y="5365552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101" name="Text 98"/>
          <p:cNvSpPr/>
          <p:nvPr/>
        </p:nvSpPr>
        <p:spPr>
          <a:xfrm>
            <a:off x="95392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</a:t>
            </a:r>
            <a:endParaRPr lang="en-US" sz="863" dirty="0"/>
          </a:p>
        </p:txBody>
      </p:sp>
      <p:sp>
        <p:nvSpPr>
          <p:cNvPr id="102" name="Text 99"/>
          <p:cNvSpPr/>
          <p:nvPr/>
        </p:nvSpPr>
        <p:spPr>
          <a:xfrm>
            <a:off x="107203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dusk</a:t>
            </a:r>
            <a:endParaRPr lang="en-US" sz="863" dirty="0"/>
          </a:p>
        </p:txBody>
      </p:sp>
      <p:sp>
        <p:nvSpPr>
          <p:cNvPr id="103" name="Text 100"/>
          <p:cNvSpPr/>
          <p:nvPr/>
        </p:nvSpPr>
        <p:spPr>
          <a:xfrm>
            <a:off x="9501188" y="5784652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750" dirty="0"/>
          </a:p>
        </p:txBody>
      </p:sp>
      <p:sp>
        <p:nvSpPr>
          <p:cNvPr id="104" name="Text 101"/>
          <p:cNvSpPr/>
          <p:nvPr/>
        </p:nvSpPr>
        <p:spPr>
          <a:xfrm>
            <a:off x="9501188" y="6013252"/>
            <a:ext cx="41448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863" dirty="0"/>
          </a:p>
        </p:txBody>
      </p:sp>
      <p:sp>
        <p:nvSpPr>
          <p:cNvPr id="105" name="Shape 102"/>
          <p:cNvSpPr/>
          <p:nvPr/>
        </p:nvSpPr>
        <p:spPr>
          <a:xfrm>
            <a:off x="9501188" y="6214170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106" name="Shape 103"/>
          <p:cNvSpPr/>
          <p:nvPr/>
        </p:nvSpPr>
        <p:spPr>
          <a:xfrm>
            <a:off x="9520238" y="6233220"/>
            <a:ext cx="787375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107" name="Text 104"/>
          <p:cNvSpPr/>
          <p:nvPr/>
        </p:nvSpPr>
        <p:spPr>
          <a:xfrm>
            <a:off x="9539288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maroon</a:t>
            </a:r>
            <a:endParaRPr lang="en-US" sz="863" dirty="0"/>
          </a:p>
        </p:txBody>
      </p:sp>
      <p:sp>
        <p:nvSpPr>
          <p:cNvPr id="108" name="Text 105"/>
          <p:cNvSpPr/>
          <p:nvPr/>
        </p:nvSpPr>
        <p:spPr>
          <a:xfrm>
            <a:off x="10326663" y="6271320"/>
            <a:ext cx="749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</a:t>
            </a:r>
            <a:endParaRPr lang="en-US" sz="863" dirty="0"/>
          </a:p>
        </p:txBody>
      </p:sp>
      <p:sp>
        <p:nvSpPr>
          <p:cNvPr id="109" name="Text 106"/>
          <p:cNvSpPr/>
          <p:nvPr/>
        </p:nvSpPr>
        <p:spPr>
          <a:xfrm>
            <a:off x="11114112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863" dirty="0"/>
          </a:p>
        </p:txBody>
      </p:sp>
      <p:sp>
        <p:nvSpPr>
          <p:cNvPr id="110" name="Text 107"/>
          <p:cNvSpPr/>
          <p:nvPr/>
        </p:nvSpPr>
        <p:spPr>
          <a:xfrm>
            <a:off x="9501188" y="6652320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750" dirty="0"/>
          </a:p>
        </p:txBody>
      </p:sp>
      <p:sp>
        <p:nvSpPr>
          <p:cNvPr id="111" name="Text 108"/>
          <p:cNvSpPr/>
          <p:nvPr/>
        </p:nvSpPr>
        <p:spPr>
          <a:xfrm>
            <a:off x="9501188" y="6880920"/>
            <a:ext cx="486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863" dirty="0"/>
          </a:p>
        </p:txBody>
      </p:sp>
      <p:sp>
        <p:nvSpPr>
          <p:cNvPr id="112" name="Shape 109"/>
          <p:cNvSpPr/>
          <p:nvPr/>
        </p:nvSpPr>
        <p:spPr>
          <a:xfrm>
            <a:off x="9501188" y="7081838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10701338" y="7100888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114" name="Text 111"/>
          <p:cNvSpPr/>
          <p:nvPr/>
        </p:nvSpPr>
        <p:spPr>
          <a:xfrm>
            <a:off x="95392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863" dirty="0"/>
          </a:p>
        </p:txBody>
      </p:sp>
      <p:sp>
        <p:nvSpPr>
          <p:cNvPr id="115" name="Text 112"/>
          <p:cNvSpPr/>
          <p:nvPr/>
        </p:nvSpPr>
        <p:spPr>
          <a:xfrm>
            <a:off x="107203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</a:t>
            </a:r>
            <a:endParaRPr lang="en-US" sz="86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52725" cy="7620000"/>
          </a:xfrm>
          <a:prstGeom prst="rect">
            <a:avLst/>
          </a:prstGeom>
          <a:solidFill>
            <a:srgbClr val="FCFBF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9525" cy="7620000"/>
          </a:xfrm>
          <a:prstGeom prst="rect">
            <a:avLst/>
          </a:prstGeom>
          <a:solidFill>
            <a:srgbClr val="E3DCC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21853"/>
            <a:ext cx="342900" cy="2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381000"/>
            <a:ext cx="148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BlueJay Malgudi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6750" y="609600"/>
            <a:ext cx="148207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2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JOURNAL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61950" y="1281113"/>
            <a:ext cx="1772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77304" y="1290638"/>
            <a:ext cx="6055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228600" y="1571625"/>
            <a:ext cx="2286000" cy="376238"/>
          </a:xfrm>
          <a:prstGeom prst="roundRect">
            <a:avLst>
              <a:gd name="adj" fmla="val 30380"/>
            </a:avLst>
          </a:prstGeom>
          <a:solidFill>
            <a:srgbClr val="902C37">
              <a:alpha val="9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228600" y="1674019"/>
            <a:ext cx="28575" cy="171450"/>
          </a:xfrm>
          <a:prstGeom prst="roundRect">
            <a:avLst>
              <a:gd name="adj" fmla="val 50000"/>
            </a:avLst>
          </a:prstGeom>
          <a:solidFill>
            <a:srgbClr val="8C2D33"/>
          </a:solidFill>
          <a:ln/>
        </p:spPr>
      </p:sp>
      <p:sp>
        <p:nvSpPr>
          <p:cNvPr id="11" name="Text 8"/>
          <p:cNvSpPr/>
          <p:nvPr/>
        </p:nvSpPr>
        <p:spPr>
          <a:xfrm>
            <a:off x="361950" y="1676400"/>
            <a:ext cx="18060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80653" y="1685925"/>
            <a:ext cx="55103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361950" y="2071688"/>
            <a:ext cx="179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79760" y="2074069"/>
            <a:ext cx="47468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61950" y="2452688"/>
            <a:ext cx="2000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00075" y="2462213"/>
            <a:ext cx="6555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28600" y="6891338"/>
            <a:ext cx="2286000" cy="9525"/>
          </a:xfrm>
          <a:prstGeom prst="rect">
            <a:avLst/>
          </a:prstGeom>
          <a:solidFill>
            <a:srgbClr val="E3DCCB"/>
          </a:solidFill>
          <a:ln/>
        </p:spPr>
      </p:sp>
      <p:sp>
        <p:nvSpPr>
          <p:cNvPr id="18" name="Text 15"/>
          <p:cNvSpPr/>
          <p:nvPr/>
        </p:nvSpPr>
        <p:spPr>
          <a:xfrm>
            <a:off x="190500" y="7091363"/>
            <a:ext cx="23622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750" spc="3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2024 · Editorial Edition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86125" y="533400"/>
            <a:ext cx="912590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54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3286125" y="1024830"/>
            <a:ext cx="912590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45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services &amp; infrastructure status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3286125" y="1474887"/>
            <a:ext cx="457200" cy="9525"/>
          </a:xfrm>
          <a:prstGeom prst="rect">
            <a:avLst/>
          </a:prstGeom>
          <a:solidFill>
            <a:srgbClr val="292420">
              <a:alpha val="2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86125" y="1827312"/>
            <a:ext cx="8296275" cy="553864"/>
          </a:xfrm>
          <a:prstGeom prst="roundRect">
            <a:avLst>
              <a:gd name="adj" fmla="val 41274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505200" y="2066106"/>
            <a:ext cx="76200" cy="7620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0" y="2027337"/>
            <a:ext cx="15299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3810595" y="2008287"/>
            <a:ext cx="752475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4715470" y="2066106"/>
            <a:ext cx="76200" cy="762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7" name="Text 24"/>
          <p:cNvSpPr/>
          <p:nvPr/>
        </p:nvSpPr>
        <p:spPr>
          <a:xfrm>
            <a:off x="4867870" y="2027337"/>
            <a:ext cx="1517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019601" y="2008287"/>
            <a:ext cx="653728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</a:t>
            </a:r>
            <a:endParaRPr lang="en-US" sz="975" dirty="0"/>
          </a:p>
        </p:txBody>
      </p:sp>
      <p:sp>
        <p:nvSpPr>
          <p:cNvPr id="29" name="Shape 26"/>
          <p:cNvSpPr/>
          <p:nvPr/>
        </p:nvSpPr>
        <p:spPr>
          <a:xfrm>
            <a:off x="5825728" y="2066106"/>
            <a:ext cx="76200" cy="76200"/>
          </a:xfrm>
          <a:prstGeom prst="ellipse">
            <a:avLst/>
          </a:prstGeom>
          <a:solidFill>
            <a:srgbClr val="B0322E"/>
          </a:solidFill>
          <a:ln/>
        </p:spPr>
      </p:sp>
      <p:sp>
        <p:nvSpPr>
          <p:cNvPr id="30" name="Text 27"/>
          <p:cNvSpPr/>
          <p:nvPr/>
        </p:nvSpPr>
        <p:spPr>
          <a:xfrm>
            <a:off x="5978128" y="2027337"/>
            <a:ext cx="15433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6132463" y="2008287"/>
            <a:ext cx="412105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3286125" y="2724076"/>
            <a:ext cx="912590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116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25" dirty="0"/>
          </a:p>
        </p:txBody>
      </p:sp>
      <p:sp>
        <p:nvSpPr>
          <p:cNvPr id="33" name="Shape 30"/>
          <p:cNvSpPr/>
          <p:nvPr/>
        </p:nvSpPr>
        <p:spPr>
          <a:xfrm>
            <a:off x="3286125" y="3038847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486150" y="3238872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862015" y="3309119"/>
            <a:ext cx="195560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 — 6-Step Process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3486150" y="3648447"/>
            <a:ext cx="23399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→ External → Softening → Main Sump → Softening 2 → Final Cleansing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3486150" y="4121497"/>
            <a:ext cx="923479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79465" y="4221733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39" name="Text 36"/>
          <p:cNvSpPr/>
          <p:nvPr/>
        </p:nvSpPr>
        <p:spPr>
          <a:xfrm>
            <a:off x="3697560" y="4188172"/>
            <a:ext cx="679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40" name="Shape 37"/>
          <p:cNvSpPr/>
          <p:nvPr/>
        </p:nvSpPr>
        <p:spPr>
          <a:xfrm>
            <a:off x="6102325" y="3038847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6302350" y="3238872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🕳️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6678216" y="3309119"/>
            <a:ext cx="99833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Borewell System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6302350" y="3648447"/>
            <a:ext cx="2490125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active borewells • Regular yield monitoring</a:t>
            </a:r>
            <a:endParaRPr lang="en-US" sz="825" dirty="0"/>
          </a:p>
        </p:txBody>
      </p:sp>
      <p:sp>
        <p:nvSpPr>
          <p:cNvPr id="44" name="Shape 41"/>
          <p:cNvSpPr/>
          <p:nvPr/>
        </p:nvSpPr>
        <p:spPr>
          <a:xfrm>
            <a:off x="6302350" y="3953917"/>
            <a:ext cx="923479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95665" y="4054153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46" name="Text 43"/>
          <p:cNvSpPr/>
          <p:nvPr/>
        </p:nvSpPr>
        <p:spPr>
          <a:xfrm>
            <a:off x="6513761" y="4020592"/>
            <a:ext cx="679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8918525" y="3038847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9118550" y="3238872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9494416" y="3309119"/>
            <a:ext cx="117968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Management</a:t>
            </a:r>
            <a:endParaRPr lang="en-US" sz="975" dirty="0"/>
          </a:p>
        </p:txBody>
      </p:sp>
      <p:sp>
        <p:nvSpPr>
          <p:cNvPr id="50" name="Text 47"/>
          <p:cNvSpPr/>
          <p:nvPr/>
        </p:nvSpPr>
        <p:spPr>
          <a:xfrm>
            <a:off x="9118550" y="3648447"/>
            <a:ext cx="2490125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&amp; dry segregation • BBMP pickup daily</a:t>
            </a:r>
            <a:endParaRPr lang="en-US" sz="825" dirty="0"/>
          </a:p>
        </p:txBody>
      </p:sp>
      <p:sp>
        <p:nvSpPr>
          <p:cNvPr id="51" name="Shape 48"/>
          <p:cNvSpPr/>
          <p:nvPr/>
        </p:nvSpPr>
        <p:spPr>
          <a:xfrm>
            <a:off x="9118550" y="3953917"/>
            <a:ext cx="923479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211866" y="4054153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53" name="Text 50"/>
          <p:cNvSpPr/>
          <p:nvPr/>
        </p:nvSpPr>
        <p:spPr>
          <a:xfrm>
            <a:off x="9329961" y="4020592"/>
            <a:ext cx="679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54" name="Text 51"/>
          <p:cNvSpPr/>
          <p:nvPr/>
        </p:nvSpPr>
        <p:spPr>
          <a:xfrm>
            <a:off x="3286125" y="4922044"/>
            <a:ext cx="912590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116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3286125" y="5236815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3486150" y="5436840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3862015" y="5507087"/>
            <a:ext cx="11222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 Surveillance</a:t>
            </a:r>
            <a:endParaRPr lang="en-US" sz="975" dirty="0"/>
          </a:p>
        </p:txBody>
      </p:sp>
      <p:sp>
        <p:nvSpPr>
          <p:cNvPr id="58" name="Text 55"/>
          <p:cNvSpPr/>
          <p:nvPr/>
        </p:nvSpPr>
        <p:spPr>
          <a:xfrm>
            <a:off x="3486150" y="5846415"/>
            <a:ext cx="23399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 cameras active • 5 down • 5-day storage only</a:t>
            </a:r>
            <a:endParaRPr lang="en-US" sz="825" dirty="0"/>
          </a:p>
        </p:txBody>
      </p:sp>
      <p:sp>
        <p:nvSpPr>
          <p:cNvPr id="59" name="Shape 56"/>
          <p:cNvSpPr/>
          <p:nvPr/>
        </p:nvSpPr>
        <p:spPr>
          <a:xfrm>
            <a:off x="3486150" y="6319465"/>
            <a:ext cx="1157734" cy="257621"/>
          </a:xfrm>
          <a:prstGeom prst="roundRect">
            <a:avLst>
              <a:gd name="adj" fmla="val 50000"/>
            </a:avLst>
          </a:prstGeom>
          <a:solidFill>
            <a:srgbClr val="F6ECCF"/>
          </a:solidFill>
          <a:ln w="9525">
            <a:solidFill>
              <a:srgbClr val="BB890C">
                <a:alpha val="16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579465" y="6419701"/>
            <a:ext cx="57150" cy="5715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61" name="Text 58"/>
          <p:cNvSpPr/>
          <p:nvPr/>
        </p:nvSpPr>
        <p:spPr>
          <a:xfrm>
            <a:off x="3697560" y="6386140"/>
            <a:ext cx="9139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825" dirty="0"/>
          </a:p>
        </p:txBody>
      </p:sp>
      <p:sp>
        <p:nvSpPr>
          <p:cNvPr id="62" name="Shape 59"/>
          <p:cNvSpPr/>
          <p:nvPr/>
        </p:nvSpPr>
        <p:spPr>
          <a:xfrm>
            <a:off x="6102325" y="5236815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6302350" y="5436840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500" dirty="0"/>
          </a:p>
        </p:txBody>
      </p:sp>
      <p:sp>
        <p:nvSpPr>
          <p:cNvPr id="64" name="Text 61"/>
          <p:cNvSpPr/>
          <p:nvPr/>
        </p:nvSpPr>
        <p:spPr>
          <a:xfrm>
            <a:off x="6678216" y="5507087"/>
            <a:ext cx="81036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Staff</a:t>
            </a:r>
            <a:endParaRPr lang="en-US" sz="975" dirty="0"/>
          </a:p>
        </p:txBody>
      </p:sp>
      <p:sp>
        <p:nvSpPr>
          <p:cNvPr id="65" name="Text 62"/>
          <p:cNvSpPr/>
          <p:nvPr/>
        </p:nvSpPr>
        <p:spPr>
          <a:xfrm>
            <a:off x="6302350" y="5846415"/>
            <a:ext cx="2490125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main gate • Patrol rounds every 2 hours</a:t>
            </a:r>
            <a:endParaRPr lang="en-US" sz="825" dirty="0"/>
          </a:p>
        </p:txBody>
      </p:sp>
      <p:sp>
        <p:nvSpPr>
          <p:cNvPr id="66" name="Shape 63"/>
          <p:cNvSpPr/>
          <p:nvPr/>
        </p:nvSpPr>
        <p:spPr>
          <a:xfrm>
            <a:off x="6302350" y="6151885"/>
            <a:ext cx="923479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395665" y="6252121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68" name="Text 65"/>
          <p:cNvSpPr/>
          <p:nvPr/>
        </p:nvSpPr>
        <p:spPr>
          <a:xfrm>
            <a:off x="6513761" y="6218560"/>
            <a:ext cx="679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69" name="Text 66"/>
          <p:cNvSpPr/>
          <p:nvPr/>
        </p:nvSpPr>
        <p:spPr>
          <a:xfrm>
            <a:off x="3286125" y="7120012"/>
            <a:ext cx="912590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b="1" spc="116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825" dirty="0"/>
          </a:p>
        </p:txBody>
      </p:sp>
      <p:sp>
        <p:nvSpPr>
          <p:cNvPr id="70" name="Shape 67"/>
          <p:cNvSpPr/>
          <p:nvPr/>
        </p:nvSpPr>
        <p:spPr>
          <a:xfrm>
            <a:off x="3286125" y="7434783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3486150" y="7634808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1500" dirty="0"/>
          </a:p>
        </p:txBody>
      </p:sp>
      <p:sp>
        <p:nvSpPr>
          <p:cNvPr id="72" name="Text 69"/>
          <p:cNvSpPr/>
          <p:nvPr/>
        </p:nvSpPr>
        <p:spPr>
          <a:xfrm>
            <a:off x="3862015" y="7705055"/>
            <a:ext cx="153429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 (Sewage Treatment)</a:t>
            </a:r>
            <a:endParaRPr lang="en-US" sz="975" dirty="0"/>
          </a:p>
        </p:txBody>
      </p:sp>
      <p:sp>
        <p:nvSpPr>
          <p:cNvPr id="73" name="Text 70"/>
          <p:cNvSpPr/>
          <p:nvPr/>
        </p:nvSpPr>
        <p:spPr>
          <a:xfrm>
            <a:off x="3486150" y="8044383"/>
            <a:ext cx="23399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but outdated • ECO STP upgrade recommended</a:t>
            </a:r>
            <a:endParaRPr lang="en-US" sz="825" dirty="0"/>
          </a:p>
        </p:txBody>
      </p:sp>
      <p:sp>
        <p:nvSpPr>
          <p:cNvPr id="74" name="Shape 71"/>
          <p:cNvSpPr/>
          <p:nvPr/>
        </p:nvSpPr>
        <p:spPr>
          <a:xfrm>
            <a:off x="3486150" y="8517434"/>
            <a:ext cx="1157734" cy="257621"/>
          </a:xfrm>
          <a:prstGeom prst="roundRect">
            <a:avLst>
              <a:gd name="adj" fmla="val 50000"/>
            </a:avLst>
          </a:prstGeom>
          <a:solidFill>
            <a:srgbClr val="F6ECCF"/>
          </a:solidFill>
          <a:ln w="9525">
            <a:solidFill>
              <a:srgbClr val="BB890C">
                <a:alpha val="1600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579465" y="8617669"/>
            <a:ext cx="57150" cy="5715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76" name="Text 73"/>
          <p:cNvSpPr/>
          <p:nvPr/>
        </p:nvSpPr>
        <p:spPr>
          <a:xfrm>
            <a:off x="3697560" y="8584109"/>
            <a:ext cx="9139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825" dirty="0"/>
          </a:p>
        </p:txBody>
      </p:sp>
      <p:sp>
        <p:nvSpPr>
          <p:cNvPr id="77" name="Shape 74"/>
          <p:cNvSpPr/>
          <p:nvPr/>
        </p:nvSpPr>
        <p:spPr>
          <a:xfrm>
            <a:off x="6102325" y="7434783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78" name="Text 75"/>
          <p:cNvSpPr/>
          <p:nvPr/>
        </p:nvSpPr>
        <p:spPr>
          <a:xfrm>
            <a:off x="6302350" y="7634808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6678216" y="7705055"/>
            <a:ext cx="86789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</a:t>
            </a:r>
            <a:endParaRPr lang="en-US" sz="975" dirty="0"/>
          </a:p>
        </p:txBody>
      </p:sp>
      <p:sp>
        <p:nvSpPr>
          <p:cNvPr id="80" name="Text 77"/>
          <p:cNvSpPr/>
          <p:nvPr/>
        </p:nvSpPr>
        <p:spPr>
          <a:xfrm>
            <a:off x="6302350" y="8044383"/>
            <a:ext cx="23399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common-area cleaning • Staircases alternate days</a:t>
            </a:r>
            <a:endParaRPr lang="en-US" sz="825" dirty="0"/>
          </a:p>
        </p:txBody>
      </p:sp>
      <p:sp>
        <p:nvSpPr>
          <p:cNvPr id="81" name="Shape 78"/>
          <p:cNvSpPr/>
          <p:nvPr/>
        </p:nvSpPr>
        <p:spPr>
          <a:xfrm>
            <a:off x="6302350" y="8517434"/>
            <a:ext cx="923479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395665" y="8617669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83" name="Text 80"/>
          <p:cNvSpPr/>
          <p:nvPr/>
        </p:nvSpPr>
        <p:spPr>
          <a:xfrm>
            <a:off x="6513761" y="8584109"/>
            <a:ext cx="679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84" name="Shape 81"/>
          <p:cNvSpPr/>
          <p:nvPr/>
        </p:nvSpPr>
        <p:spPr>
          <a:xfrm>
            <a:off x="8918525" y="7434783"/>
            <a:ext cx="2663800" cy="1540297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85" name="Text 82"/>
          <p:cNvSpPr/>
          <p:nvPr/>
        </p:nvSpPr>
        <p:spPr>
          <a:xfrm>
            <a:off x="9118550" y="7634808"/>
            <a:ext cx="3377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4A4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9494416" y="7705055"/>
            <a:ext cx="137034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Maintenance</a:t>
            </a:r>
            <a:endParaRPr lang="en-US" sz="975" dirty="0"/>
          </a:p>
        </p:txBody>
      </p:sp>
      <p:sp>
        <p:nvSpPr>
          <p:cNvPr id="87" name="Text 84"/>
          <p:cNvSpPr/>
          <p:nvPr/>
        </p:nvSpPr>
        <p:spPr>
          <a:xfrm>
            <a:off x="9118550" y="8044383"/>
            <a:ext cx="2339950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2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electrician • DG backup for common areas</a:t>
            </a:r>
            <a:endParaRPr lang="en-US" sz="825" dirty="0"/>
          </a:p>
        </p:txBody>
      </p:sp>
      <p:sp>
        <p:nvSpPr>
          <p:cNvPr id="88" name="Shape 85"/>
          <p:cNvSpPr/>
          <p:nvPr/>
        </p:nvSpPr>
        <p:spPr>
          <a:xfrm>
            <a:off x="9118550" y="8517434"/>
            <a:ext cx="923479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9211866" y="8617669"/>
            <a:ext cx="57150" cy="57150"/>
          </a:xfrm>
          <a:prstGeom prst="ellipse">
            <a:avLst/>
          </a:prstGeom>
          <a:solidFill>
            <a:srgbClr val="3C6B4E"/>
          </a:solidFill>
          <a:ln/>
        </p:spPr>
      </p:sp>
      <p:sp>
        <p:nvSpPr>
          <p:cNvPr id="90" name="Text 87"/>
          <p:cNvSpPr/>
          <p:nvPr/>
        </p:nvSpPr>
        <p:spPr>
          <a:xfrm>
            <a:off x="9329961" y="8584109"/>
            <a:ext cx="6796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91" name="Shape 88"/>
          <p:cNvSpPr/>
          <p:nvPr/>
        </p:nvSpPr>
        <p:spPr>
          <a:xfrm>
            <a:off x="9363075" y="4493121"/>
            <a:ext cx="2676525" cy="2974479"/>
          </a:xfrm>
          <a:prstGeom prst="roundRect">
            <a:avLst>
              <a:gd name="adj" fmla="val 4982"/>
            </a:avLst>
          </a:prstGeom>
          <a:solidFill>
            <a:srgbClr val="FAF9F7">
              <a:alpha val="78000"/>
            </a:srgbClr>
          </a:solidFill>
          <a:ln w="4763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92" name="Text 89"/>
          <p:cNvSpPr/>
          <p:nvPr/>
        </p:nvSpPr>
        <p:spPr>
          <a:xfrm>
            <a:off x="9501188" y="4617913"/>
            <a:ext cx="45593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11768138" y="4602659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94" name="Text 91"/>
          <p:cNvSpPr/>
          <p:nvPr/>
        </p:nvSpPr>
        <p:spPr>
          <a:xfrm>
            <a:off x="9501188" y="4916984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9501188" y="5145584"/>
            <a:ext cx="66094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863" dirty="0"/>
          </a:p>
        </p:txBody>
      </p:sp>
      <p:sp>
        <p:nvSpPr>
          <p:cNvPr id="96" name="Shape 93"/>
          <p:cNvSpPr/>
          <p:nvPr/>
        </p:nvSpPr>
        <p:spPr>
          <a:xfrm>
            <a:off x="9501188" y="5346502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9520238" y="5365552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98" name="Text 95"/>
          <p:cNvSpPr/>
          <p:nvPr/>
        </p:nvSpPr>
        <p:spPr>
          <a:xfrm>
            <a:off x="95392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</a:t>
            </a:r>
            <a:endParaRPr lang="en-US" sz="863" dirty="0"/>
          </a:p>
        </p:txBody>
      </p:sp>
      <p:sp>
        <p:nvSpPr>
          <p:cNvPr id="99" name="Text 96"/>
          <p:cNvSpPr/>
          <p:nvPr/>
        </p:nvSpPr>
        <p:spPr>
          <a:xfrm>
            <a:off x="107203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dusk</a:t>
            </a:r>
            <a:endParaRPr lang="en-US" sz="863" dirty="0"/>
          </a:p>
        </p:txBody>
      </p:sp>
      <p:sp>
        <p:nvSpPr>
          <p:cNvPr id="100" name="Text 97"/>
          <p:cNvSpPr/>
          <p:nvPr/>
        </p:nvSpPr>
        <p:spPr>
          <a:xfrm>
            <a:off x="9501188" y="5784652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9501188" y="6013252"/>
            <a:ext cx="41448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863" dirty="0"/>
          </a:p>
        </p:txBody>
      </p:sp>
      <p:sp>
        <p:nvSpPr>
          <p:cNvPr id="102" name="Shape 99"/>
          <p:cNvSpPr/>
          <p:nvPr/>
        </p:nvSpPr>
        <p:spPr>
          <a:xfrm>
            <a:off x="9501188" y="6214170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103" name="Shape 100"/>
          <p:cNvSpPr/>
          <p:nvPr/>
        </p:nvSpPr>
        <p:spPr>
          <a:xfrm>
            <a:off x="9520238" y="6233220"/>
            <a:ext cx="787375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104" name="Text 101"/>
          <p:cNvSpPr/>
          <p:nvPr/>
        </p:nvSpPr>
        <p:spPr>
          <a:xfrm>
            <a:off x="9539288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maroon</a:t>
            </a:r>
            <a:endParaRPr lang="en-US" sz="863" dirty="0"/>
          </a:p>
        </p:txBody>
      </p:sp>
      <p:sp>
        <p:nvSpPr>
          <p:cNvPr id="105" name="Text 102"/>
          <p:cNvSpPr/>
          <p:nvPr/>
        </p:nvSpPr>
        <p:spPr>
          <a:xfrm>
            <a:off x="10326663" y="6271320"/>
            <a:ext cx="749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</a:t>
            </a:r>
            <a:endParaRPr lang="en-US" sz="863" dirty="0"/>
          </a:p>
        </p:txBody>
      </p:sp>
      <p:sp>
        <p:nvSpPr>
          <p:cNvPr id="106" name="Text 103"/>
          <p:cNvSpPr/>
          <p:nvPr/>
        </p:nvSpPr>
        <p:spPr>
          <a:xfrm>
            <a:off x="11114112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863" dirty="0"/>
          </a:p>
        </p:txBody>
      </p:sp>
      <p:sp>
        <p:nvSpPr>
          <p:cNvPr id="107" name="Text 104"/>
          <p:cNvSpPr/>
          <p:nvPr/>
        </p:nvSpPr>
        <p:spPr>
          <a:xfrm>
            <a:off x="9501188" y="6652320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750" dirty="0"/>
          </a:p>
        </p:txBody>
      </p:sp>
      <p:sp>
        <p:nvSpPr>
          <p:cNvPr id="108" name="Text 105"/>
          <p:cNvSpPr/>
          <p:nvPr/>
        </p:nvSpPr>
        <p:spPr>
          <a:xfrm>
            <a:off x="9501188" y="6880920"/>
            <a:ext cx="486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863" dirty="0"/>
          </a:p>
        </p:txBody>
      </p:sp>
      <p:sp>
        <p:nvSpPr>
          <p:cNvPr id="109" name="Shape 106"/>
          <p:cNvSpPr/>
          <p:nvPr/>
        </p:nvSpPr>
        <p:spPr>
          <a:xfrm>
            <a:off x="9501188" y="7081838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110" name="Shape 107"/>
          <p:cNvSpPr/>
          <p:nvPr/>
        </p:nvSpPr>
        <p:spPr>
          <a:xfrm>
            <a:off x="10701338" y="7100888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111" name="Text 108"/>
          <p:cNvSpPr/>
          <p:nvPr/>
        </p:nvSpPr>
        <p:spPr>
          <a:xfrm>
            <a:off x="95392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863" dirty="0"/>
          </a:p>
        </p:txBody>
      </p:sp>
      <p:sp>
        <p:nvSpPr>
          <p:cNvPr id="112" name="Text 109"/>
          <p:cNvSpPr/>
          <p:nvPr/>
        </p:nvSpPr>
        <p:spPr>
          <a:xfrm>
            <a:off x="107203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</a:t>
            </a:r>
            <a:endParaRPr lang="en-US" sz="8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52725" cy="7620000"/>
          </a:xfrm>
          <a:prstGeom prst="rect">
            <a:avLst/>
          </a:prstGeom>
          <a:solidFill>
            <a:srgbClr val="FCFBF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9525" cy="7620000"/>
          </a:xfrm>
          <a:prstGeom prst="rect">
            <a:avLst/>
          </a:prstGeom>
          <a:solidFill>
            <a:srgbClr val="E3DCC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21853"/>
            <a:ext cx="342900" cy="2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381000"/>
            <a:ext cx="148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BlueJay Malgudi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6750" y="609600"/>
            <a:ext cx="148207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2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JOURNAL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61950" y="1281113"/>
            <a:ext cx="1772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77304" y="1290638"/>
            <a:ext cx="6055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61950" y="1676400"/>
            <a:ext cx="18060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80653" y="1685925"/>
            <a:ext cx="5920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228600" y="1966912"/>
            <a:ext cx="2286000" cy="361950"/>
          </a:xfrm>
          <a:prstGeom prst="roundRect">
            <a:avLst>
              <a:gd name="adj" fmla="val 31579"/>
            </a:avLst>
          </a:prstGeom>
          <a:solidFill>
            <a:srgbClr val="902C37">
              <a:alpha val="9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28600" y="2062163"/>
            <a:ext cx="28575" cy="171450"/>
          </a:xfrm>
          <a:prstGeom prst="roundRect">
            <a:avLst>
              <a:gd name="adj" fmla="val 50000"/>
            </a:avLst>
          </a:prstGeom>
          <a:solidFill>
            <a:srgbClr val="8C2D33"/>
          </a:solidFill>
          <a:ln/>
        </p:spPr>
      </p:sp>
      <p:sp>
        <p:nvSpPr>
          <p:cNvPr id="13" name="Text 10"/>
          <p:cNvSpPr/>
          <p:nvPr/>
        </p:nvSpPr>
        <p:spPr>
          <a:xfrm>
            <a:off x="361950" y="2071688"/>
            <a:ext cx="179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79760" y="2074069"/>
            <a:ext cx="45481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61950" y="2452688"/>
            <a:ext cx="2000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00075" y="2462213"/>
            <a:ext cx="6555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28600" y="6891338"/>
            <a:ext cx="2286000" cy="9525"/>
          </a:xfrm>
          <a:prstGeom prst="rect">
            <a:avLst/>
          </a:prstGeom>
          <a:solidFill>
            <a:srgbClr val="E3DCCB"/>
          </a:solidFill>
          <a:ln/>
        </p:spPr>
      </p:sp>
      <p:sp>
        <p:nvSpPr>
          <p:cNvPr id="18" name="Text 15"/>
          <p:cNvSpPr/>
          <p:nvPr/>
        </p:nvSpPr>
        <p:spPr>
          <a:xfrm>
            <a:off x="190500" y="7091363"/>
            <a:ext cx="23622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750" spc="3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2024 · Editorial Edition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86125" y="533400"/>
            <a:ext cx="912590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54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3286125" y="1024830"/>
            <a:ext cx="912590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45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community events &amp; gatherings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3286125" y="1474887"/>
            <a:ext cx="457200" cy="9525"/>
          </a:xfrm>
          <a:prstGeom prst="rect">
            <a:avLst/>
          </a:prstGeom>
          <a:solidFill>
            <a:srgbClr val="292420">
              <a:alpha val="2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86125" y="1865412"/>
            <a:ext cx="8296275" cy="1151037"/>
          </a:xfrm>
          <a:prstGeom prst="roundRect">
            <a:avLst>
              <a:gd name="adj" fmla="val 1986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562350" y="2122587"/>
            <a:ext cx="40218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-30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Camp for Kids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562350" y="2446437"/>
            <a:ext cx="876970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📅Jun 10–20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4534570" y="2446437"/>
            <a:ext cx="1518910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🕐9:00 AM – 12:00 PM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086847" y="2446437"/>
            <a:ext cx="1207963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📍Community Hall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10491639" y="2122587"/>
            <a:ext cx="814536" cy="257621"/>
          </a:xfrm>
          <a:prstGeom prst="roundRect">
            <a:avLst>
              <a:gd name="adj" fmla="val 50000"/>
            </a:avLst>
          </a:prstGeom>
          <a:solidFill>
            <a:srgbClr val="F6ECCF"/>
          </a:solidFill>
          <a:ln w="9525">
            <a:solidFill>
              <a:srgbClr val="BB890C">
                <a:alpha val="16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844" y="2170212"/>
            <a:ext cx="658326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spots left</a:t>
            </a:r>
            <a:endParaRPr lang="en-US" sz="825" dirty="0"/>
          </a:p>
        </p:txBody>
      </p:sp>
      <p:sp>
        <p:nvSpPr>
          <p:cNvPr id="29" name="Shape 26"/>
          <p:cNvSpPr/>
          <p:nvPr/>
        </p:nvSpPr>
        <p:spPr>
          <a:xfrm>
            <a:off x="10675590" y="2494508"/>
            <a:ext cx="630585" cy="264765"/>
          </a:xfrm>
          <a:prstGeom prst="roundRect">
            <a:avLst>
              <a:gd name="adj" fmla="val 50000"/>
            </a:avLst>
          </a:prstGeom>
          <a:ln w="9525">
            <a:solidFill>
              <a:srgbClr val="8C2D32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784160" y="2564978"/>
            <a:ext cx="413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3286125" y="3187898"/>
            <a:ext cx="8296275" cy="1151037"/>
          </a:xfrm>
          <a:prstGeom prst="roundRect">
            <a:avLst>
              <a:gd name="adj" fmla="val 1986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562350" y="3445073"/>
            <a:ext cx="33893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-30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General Meeting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3562350" y="3768923"/>
            <a:ext cx="656779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📅Jun 15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4314379" y="3768923"/>
            <a:ext cx="1457682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🕐6:00 PM – 8:00 PM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5810994" y="3768923"/>
            <a:ext cx="908819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📍Clubhouse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10444311" y="3445073"/>
            <a:ext cx="861864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560516" y="3492698"/>
            <a:ext cx="705654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welcome</a:t>
            </a:r>
            <a:endParaRPr lang="en-US" sz="825" dirty="0"/>
          </a:p>
        </p:txBody>
      </p:sp>
      <p:sp>
        <p:nvSpPr>
          <p:cNvPr id="38" name="Shape 35"/>
          <p:cNvSpPr/>
          <p:nvPr/>
        </p:nvSpPr>
        <p:spPr>
          <a:xfrm>
            <a:off x="10675590" y="3816995"/>
            <a:ext cx="630585" cy="264765"/>
          </a:xfrm>
          <a:prstGeom prst="roundRect">
            <a:avLst>
              <a:gd name="adj" fmla="val 50000"/>
            </a:avLst>
          </a:prstGeom>
          <a:ln w="9525">
            <a:solidFill>
              <a:srgbClr val="8C2D32">
                <a:alpha val="4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784160" y="3887465"/>
            <a:ext cx="413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3286125" y="4510385"/>
            <a:ext cx="8296275" cy="1151037"/>
          </a:xfrm>
          <a:prstGeom prst="roundRect">
            <a:avLst>
              <a:gd name="adj" fmla="val 1986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3562350" y="4767560"/>
            <a:ext cx="37241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-30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&amp; Meditation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3562350" y="5091410"/>
            <a:ext cx="1086817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📅Every Sunday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4744417" y="5091410"/>
            <a:ext cx="1168003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🕐6:30 – 7:30 AM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6007671" y="5091410"/>
            <a:ext cx="1016496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📍Garden Area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10795769" y="4767560"/>
            <a:ext cx="510406" cy="257621"/>
          </a:xfrm>
          <a:prstGeom prst="roundRect">
            <a:avLst>
              <a:gd name="adj" fmla="val 50000"/>
            </a:avLst>
          </a:prstGeom>
          <a:solidFill>
            <a:srgbClr val="E7F0E9"/>
          </a:solidFill>
          <a:ln w="9525">
            <a:solidFill>
              <a:srgbClr val="3E6A51">
                <a:alpha val="16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911974" y="4815185"/>
            <a:ext cx="354196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3C6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10675590" y="5139482"/>
            <a:ext cx="630585" cy="264765"/>
          </a:xfrm>
          <a:prstGeom prst="roundRect">
            <a:avLst>
              <a:gd name="adj" fmla="val 50000"/>
            </a:avLst>
          </a:prstGeom>
          <a:ln w="9525">
            <a:solidFill>
              <a:srgbClr val="8C2D32">
                <a:alpha val="40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84160" y="5209952"/>
            <a:ext cx="413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3286125" y="5832872"/>
            <a:ext cx="8296275" cy="1151037"/>
          </a:xfrm>
          <a:prstGeom prst="roundRect">
            <a:avLst>
              <a:gd name="adj" fmla="val 1986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3562350" y="6090047"/>
            <a:ext cx="252360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spc="-30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Night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3562350" y="6413897"/>
            <a:ext cx="684014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📅Jun 22</a:t>
            </a:r>
            <a:endParaRPr lang="en-US" sz="975" dirty="0"/>
          </a:p>
        </p:txBody>
      </p:sp>
      <p:sp>
        <p:nvSpPr>
          <p:cNvPr id="52" name="Text 49"/>
          <p:cNvSpPr/>
          <p:nvPr/>
        </p:nvSpPr>
        <p:spPr>
          <a:xfrm>
            <a:off x="4341614" y="6413897"/>
            <a:ext cx="764679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🕐7:00 PM</a:t>
            </a:r>
            <a:endParaRPr lang="en-US" sz="975" dirty="0"/>
          </a:p>
        </p:txBody>
      </p:sp>
      <p:sp>
        <p:nvSpPr>
          <p:cNvPr id="53" name="Text 50"/>
          <p:cNvSpPr/>
          <p:nvPr/>
        </p:nvSpPr>
        <p:spPr>
          <a:xfrm>
            <a:off x="5201543" y="6413897"/>
            <a:ext cx="731193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📍Terrace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10427717" y="6090047"/>
            <a:ext cx="878458" cy="257621"/>
          </a:xfrm>
          <a:prstGeom prst="roundRect">
            <a:avLst>
              <a:gd name="adj" fmla="val 50000"/>
            </a:avLst>
          </a:prstGeom>
          <a:solidFill>
            <a:srgbClr val="F6ECCF"/>
          </a:solidFill>
          <a:ln w="9525">
            <a:solidFill>
              <a:srgbClr val="BB890C">
                <a:alpha val="16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543922" y="6137672"/>
            <a:ext cx="722248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7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spots left</a:t>
            </a:r>
            <a:endParaRPr lang="en-US" sz="825" dirty="0"/>
          </a:p>
        </p:txBody>
      </p:sp>
      <p:sp>
        <p:nvSpPr>
          <p:cNvPr id="56" name="Shape 53"/>
          <p:cNvSpPr/>
          <p:nvPr/>
        </p:nvSpPr>
        <p:spPr>
          <a:xfrm>
            <a:off x="10675590" y="6461968"/>
            <a:ext cx="630585" cy="264765"/>
          </a:xfrm>
          <a:prstGeom prst="roundRect">
            <a:avLst>
              <a:gd name="adj" fmla="val 50000"/>
            </a:avLst>
          </a:prstGeom>
          <a:ln w="9525">
            <a:solidFill>
              <a:srgbClr val="8C2D32">
                <a:alpha val="4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784160" y="6532438"/>
            <a:ext cx="413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RSVP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9363075" y="4493121"/>
            <a:ext cx="2676525" cy="2974479"/>
          </a:xfrm>
          <a:prstGeom prst="roundRect">
            <a:avLst>
              <a:gd name="adj" fmla="val 4982"/>
            </a:avLst>
          </a:prstGeom>
          <a:solidFill>
            <a:srgbClr val="FAF9F7">
              <a:alpha val="78000"/>
            </a:srgbClr>
          </a:solidFill>
          <a:ln w="4763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9501188" y="4617913"/>
            <a:ext cx="45593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1768138" y="4602659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61" name="Text 58"/>
          <p:cNvSpPr/>
          <p:nvPr/>
        </p:nvSpPr>
        <p:spPr>
          <a:xfrm>
            <a:off x="9501188" y="4916984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9501188" y="5145584"/>
            <a:ext cx="66094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863" dirty="0"/>
          </a:p>
        </p:txBody>
      </p:sp>
      <p:sp>
        <p:nvSpPr>
          <p:cNvPr id="63" name="Shape 60"/>
          <p:cNvSpPr/>
          <p:nvPr/>
        </p:nvSpPr>
        <p:spPr>
          <a:xfrm>
            <a:off x="9501188" y="5346502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520238" y="5365552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95392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</a:t>
            </a:r>
            <a:endParaRPr lang="en-US" sz="863" dirty="0"/>
          </a:p>
        </p:txBody>
      </p:sp>
      <p:sp>
        <p:nvSpPr>
          <p:cNvPr id="66" name="Text 63"/>
          <p:cNvSpPr/>
          <p:nvPr/>
        </p:nvSpPr>
        <p:spPr>
          <a:xfrm>
            <a:off x="107203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dusk</a:t>
            </a:r>
            <a:endParaRPr lang="en-US" sz="863" dirty="0"/>
          </a:p>
        </p:txBody>
      </p:sp>
      <p:sp>
        <p:nvSpPr>
          <p:cNvPr id="67" name="Text 64"/>
          <p:cNvSpPr/>
          <p:nvPr/>
        </p:nvSpPr>
        <p:spPr>
          <a:xfrm>
            <a:off x="9501188" y="5784652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9501188" y="6013252"/>
            <a:ext cx="41448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863" dirty="0"/>
          </a:p>
        </p:txBody>
      </p:sp>
      <p:sp>
        <p:nvSpPr>
          <p:cNvPr id="69" name="Shape 66"/>
          <p:cNvSpPr/>
          <p:nvPr/>
        </p:nvSpPr>
        <p:spPr>
          <a:xfrm>
            <a:off x="9501188" y="6214170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9520238" y="6233220"/>
            <a:ext cx="787375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9539288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maroon</a:t>
            </a:r>
            <a:endParaRPr lang="en-US" sz="863" dirty="0"/>
          </a:p>
        </p:txBody>
      </p:sp>
      <p:sp>
        <p:nvSpPr>
          <p:cNvPr id="72" name="Text 69"/>
          <p:cNvSpPr/>
          <p:nvPr/>
        </p:nvSpPr>
        <p:spPr>
          <a:xfrm>
            <a:off x="10326663" y="6271320"/>
            <a:ext cx="749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</a:t>
            </a:r>
            <a:endParaRPr lang="en-US" sz="863" dirty="0"/>
          </a:p>
        </p:txBody>
      </p:sp>
      <p:sp>
        <p:nvSpPr>
          <p:cNvPr id="73" name="Text 70"/>
          <p:cNvSpPr/>
          <p:nvPr/>
        </p:nvSpPr>
        <p:spPr>
          <a:xfrm>
            <a:off x="11114112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863" dirty="0"/>
          </a:p>
        </p:txBody>
      </p:sp>
      <p:sp>
        <p:nvSpPr>
          <p:cNvPr id="74" name="Text 71"/>
          <p:cNvSpPr/>
          <p:nvPr/>
        </p:nvSpPr>
        <p:spPr>
          <a:xfrm>
            <a:off x="9501188" y="6652320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9501188" y="6880920"/>
            <a:ext cx="486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863" dirty="0"/>
          </a:p>
        </p:txBody>
      </p:sp>
      <p:sp>
        <p:nvSpPr>
          <p:cNvPr id="76" name="Shape 73"/>
          <p:cNvSpPr/>
          <p:nvPr/>
        </p:nvSpPr>
        <p:spPr>
          <a:xfrm>
            <a:off x="9501188" y="7081838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10701338" y="7100888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78" name="Text 75"/>
          <p:cNvSpPr/>
          <p:nvPr/>
        </p:nvSpPr>
        <p:spPr>
          <a:xfrm>
            <a:off x="95392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863" dirty="0"/>
          </a:p>
        </p:txBody>
      </p:sp>
      <p:sp>
        <p:nvSpPr>
          <p:cNvPr id="79" name="Text 76"/>
          <p:cNvSpPr/>
          <p:nvPr/>
        </p:nvSpPr>
        <p:spPr>
          <a:xfrm>
            <a:off x="107203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</a:t>
            </a:r>
            <a:endParaRPr lang="en-US" sz="86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52725" cy="7620000"/>
          </a:xfrm>
          <a:prstGeom prst="rect">
            <a:avLst/>
          </a:prstGeom>
          <a:solidFill>
            <a:srgbClr val="FCFBF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0"/>
            <a:ext cx="9525" cy="7620000"/>
          </a:xfrm>
          <a:prstGeom prst="rect">
            <a:avLst/>
          </a:prstGeom>
          <a:solidFill>
            <a:srgbClr val="E3DCC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21853"/>
            <a:ext cx="342900" cy="2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750" y="381000"/>
            <a:ext cx="1482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BlueJay Malgudi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6750" y="609600"/>
            <a:ext cx="148207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spc="12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JOURNAL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61950" y="1281113"/>
            <a:ext cx="1772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77304" y="1290638"/>
            <a:ext cx="605582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Spotlight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61950" y="1676400"/>
            <a:ext cx="18060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80653" y="1685925"/>
            <a:ext cx="59203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61950" y="2071688"/>
            <a:ext cx="179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B9488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79760" y="2074069"/>
            <a:ext cx="47468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228600" y="2347913"/>
            <a:ext cx="2286000" cy="376238"/>
          </a:xfrm>
          <a:prstGeom prst="roundRect">
            <a:avLst>
              <a:gd name="adj" fmla="val 30380"/>
            </a:avLst>
          </a:prstGeom>
          <a:solidFill>
            <a:srgbClr val="902C37">
              <a:alpha val="9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28600" y="2450306"/>
            <a:ext cx="28575" cy="171450"/>
          </a:xfrm>
          <a:prstGeom prst="roundRect">
            <a:avLst>
              <a:gd name="adj" fmla="val 50000"/>
            </a:avLst>
          </a:prstGeom>
          <a:solidFill>
            <a:srgbClr val="8C2D33"/>
          </a:solidFill>
          <a:ln/>
        </p:spPr>
      </p:sp>
      <p:sp>
        <p:nvSpPr>
          <p:cNvPr id="15" name="Text 12"/>
          <p:cNvSpPr/>
          <p:nvPr/>
        </p:nvSpPr>
        <p:spPr>
          <a:xfrm>
            <a:off x="361950" y="2452688"/>
            <a:ext cx="2000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600075" y="2462213"/>
            <a:ext cx="62001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228600" y="6891338"/>
            <a:ext cx="2286000" cy="9525"/>
          </a:xfrm>
          <a:prstGeom prst="rect">
            <a:avLst/>
          </a:prstGeom>
          <a:solidFill>
            <a:srgbClr val="E3DCCB"/>
          </a:solidFill>
          <a:ln/>
        </p:spPr>
      </p:sp>
      <p:sp>
        <p:nvSpPr>
          <p:cNvPr id="18" name="Text 15"/>
          <p:cNvSpPr/>
          <p:nvPr/>
        </p:nvSpPr>
        <p:spPr>
          <a:xfrm>
            <a:off x="190500" y="7091363"/>
            <a:ext cx="236220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750" spc="30" kern="0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2024 · Editorial Edition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86125" y="533400"/>
            <a:ext cx="912590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54" kern="0" dirty="0">
                <a:solidFill>
                  <a:srgbClr val="2A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Corner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3286125" y="1024830"/>
            <a:ext cx="912590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spc="45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thoughts, suggestions &amp; concerns with BMOWA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3286125" y="1474887"/>
            <a:ext cx="457200" cy="9525"/>
          </a:xfrm>
          <a:prstGeom prst="rect">
            <a:avLst/>
          </a:prstGeom>
          <a:solidFill>
            <a:srgbClr val="292420">
              <a:alpha val="2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286125" y="1865412"/>
            <a:ext cx="8296275" cy="6783437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 w="9525">
            <a:solidFill>
              <a:srgbClr val="E3DCCB"/>
            </a:solidFill>
            <a:prstDash val="solid"/>
          </a:ln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638550" y="2217837"/>
            <a:ext cx="4070509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(OPTIONAL)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3638550" y="2448744"/>
            <a:ext cx="3700463" cy="403771"/>
          </a:xfrm>
          <a:prstGeom prst="roundRect">
            <a:avLst>
              <a:gd name="adj" fmla="val 28308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29513" y="2217837"/>
            <a:ext cx="4070509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NUMBER (OPTIONAL)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7529513" y="2448744"/>
            <a:ext cx="3700463" cy="403771"/>
          </a:xfrm>
          <a:prstGeom prst="roundRect">
            <a:avLst>
              <a:gd name="adj" fmla="val 28308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38550" y="3062064"/>
            <a:ext cx="835056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*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3638550" y="3292971"/>
            <a:ext cx="7591425" cy="403771"/>
          </a:xfrm>
          <a:prstGeom prst="roundRect">
            <a:avLst>
              <a:gd name="adj" fmla="val 28308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000929" y="3412182"/>
            <a:ext cx="168101" cy="20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4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3638550" y="3906292"/>
            <a:ext cx="835056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*</a:t>
            </a:r>
            <a:endParaRPr lang="en-US" sz="825" dirty="0"/>
          </a:p>
        </p:txBody>
      </p:sp>
      <p:sp>
        <p:nvSpPr>
          <p:cNvPr id="31" name="Shape 28"/>
          <p:cNvSpPr/>
          <p:nvPr/>
        </p:nvSpPr>
        <p:spPr>
          <a:xfrm>
            <a:off x="3638550" y="4137199"/>
            <a:ext cx="7591425" cy="403771"/>
          </a:xfrm>
          <a:prstGeom prst="roundRect">
            <a:avLst>
              <a:gd name="adj" fmla="val 28308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38550" y="4750519"/>
            <a:ext cx="835056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*</a:t>
            </a:r>
            <a:endParaRPr lang="en-US" sz="825" dirty="0"/>
          </a:p>
        </p:txBody>
      </p:sp>
      <p:sp>
        <p:nvSpPr>
          <p:cNvPr id="33" name="Shape 30"/>
          <p:cNvSpPr/>
          <p:nvPr/>
        </p:nvSpPr>
        <p:spPr>
          <a:xfrm>
            <a:off x="3638550" y="4981426"/>
            <a:ext cx="7591425" cy="1339602"/>
          </a:xfrm>
          <a:prstGeom prst="roundRect">
            <a:avLst>
              <a:gd name="adj" fmla="val 8532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38550" y="6530578"/>
            <a:ext cx="835056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116" kern="0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3638550" y="6788200"/>
            <a:ext cx="2454250" cy="357188"/>
          </a:xfrm>
          <a:prstGeom prst="roundRect">
            <a:avLst>
              <a:gd name="adj" fmla="val 50000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09975" y="6892975"/>
            <a:ext cx="25114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6207100" y="6788200"/>
            <a:ext cx="2454325" cy="357188"/>
          </a:xfrm>
          <a:prstGeom prst="roundRect">
            <a:avLst>
              <a:gd name="adj" fmla="val 50000"/>
            </a:avLst>
          </a:prstGeom>
          <a:solidFill>
            <a:srgbClr val="FBF1F0"/>
          </a:solidFill>
          <a:ln w="9525">
            <a:solidFill>
              <a:srgbClr val="8C2E34">
                <a:alpha val="3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78525" y="6892975"/>
            <a:ext cx="251147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C2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8775725" y="6788200"/>
            <a:ext cx="2454250" cy="357188"/>
          </a:xfrm>
          <a:prstGeom prst="roundRect">
            <a:avLst>
              <a:gd name="adj" fmla="val 50000"/>
            </a:avLst>
          </a:prstGeom>
          <a:solidFill>
            <a:srgbClr val="F7F4EC"/>
          </a:solidFill>
          <a:ln w="9525">
            <a:solidFill>
              <a:srgbClr val="E3DCC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47150" y="6892975"/>
            <a:ext cx="251140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75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3638550" y="7354937"/>
            <a:ext cx="7591425" cy="36001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302F">
                  <a:alpha val="100000"/>
                </a:srgbClr>
              </a:gs>
              <a:gs pos="100000">
                <a:srgbClr val="571F25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8575" dist="9525" dir="5400000">
              <a:srgbClr val="2A2622">
                <a:alpha val="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840215" y="7463507"/>
            <a:ext cx="118802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C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Feedback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3258979" y="8029277"/>
            <a:ext cx="835056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9B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feedback is submitted to the BMOWA committee and logged for review.</a:t>
            </a:r>
            <a:endParaRPr lang="en-US" sz="825" dirty="0"/>
          </a:p>
        </p:txBody>
      </p:sp>
      <p:sp>
        <p:nvSpPr>
          <p:cNvPr id="44" name="Shape 41"/>
          <p:cNvSpPr/>
          <p:nvPr/>
        </p:nvSpPr>
        <p:spPr>
          <a:xfrm>
            <a:off x="9363075" y="4493121"/>
            <a:ext cx="2676525" cy="2974479"/>
          </a:xfrm>
          <a:prstGeom prst="roundRect">
            <a:avLst>
              <a:gd name="adj" fmla="val 4982"/>
            </a:avLst>
          </a:prstGeom>
          <a:solidFill>
            <a:srgbClr val="FAF9F7">
              <a:alpha val="78000"/>
            </a:srgbClr>
          </a:solidFill>
          <a:ln w="4763">
            <a:solidFill>
              <a:srgbClr val="FFFFFF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0000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9501188" y="4617913"/>
            <a:ext cx="45593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9" kern="0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Tweaks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768138" y="4602659"/>
            <a:ext cx="171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29261B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47" name="Text 44"/>
          <p:cNvSpPr/>
          <p:nvPr/>
        </p:nvSpPr>
        <p:spPr>
          <a:xfrm>
            <a:off x="9501188" y="4916984"/>
            <a:ext cx="26403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9501188" y="5145584"/>
            <a:ext cx="66094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 day</a:t>
            </a:r>
            <a:endParaRPr lang="en-US" sz="863" dirty="0"/>
          </a:p>
        </p:txBody>
      </p:sp>
      <p:sp>
        <p:nvSpPr>
          <p:cNvPr id="49" name="Shape 46"/>
          <p:cNvSpPr/>
          <p:nvPr/>
        </p:nvSpPr>
        <p:spPr>
          <a:xfrm>
            <a:off x="9501188" y="5346502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9520238" y="5365552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95392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</a:t>
            </a:r>
            <a:endParaRPr lang="en-US" sz="863" dirty="0"/>
          </a:p>
        </p:txBody>
      </p:sp>
      <p:sp>
        <p:nvSpPr>
          <p:cNvPr id="52" name="Text 49"/>
          <p:cNvSpPr/>
          <p:nvPr/>
        </p:nvSpPr>
        <p:spPr>
          <a:xfrm>
            <a:off x="10720388" y="5403652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dusk</a:t>
            </a:r>
            <a:endParaRPr lang="en-US" sz="863" dirty="0"/>
          </a:p>
        </p:txBody>
      </p:sp>
      <p:sp>
        <p:nvSpPr>
          <p:cNvPr id="53" name="Text 50"/>
          <p:cNvSpPr/>
          <p:nvPr/>
        </p:nvSpPr>
        <p:spPr>
          <a:xfrm>
            <a:off x="9501188" y="5784652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9501188" y="6013252"/>
            <a:ext cx="414486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863" dirty="0"/>
          </a:p>
        </p:txBody>
      </p:sp>
      <p:sp>
        <p:nvSpPr>
          <p:cNvPr id="55" name="Shape 52"/>
          <p:cNvSpPr/>
          <p:nvPr/>
        </p:nvSpPr>
        <p:spPr>
          <a:xfrm>
            <a:off x="9501188" y="6214170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9520238" y="6233220"/>
            <a:ext cx="787375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9539288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maroon</a:t>
            </a:r>
            <a:endParaRPr lang="en-US" sz="863" dirty="0"/>
          </a:p>
        </p:txBody>
      </p:sp>
      <p:sp>
        <p:nvSpPr>
          <p:cNvPr id="58" name="Text 55"/>
          <p:cNvSpPr/>
          <p:nvPr/>
        </p:nvSpPr>
        <p:spPr>
          <a:xfrm>
            <a:off x="10326663" y="6271320"/>
            <a:ext cx="749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</a:t>
            </a:r>
            <a:endParaRPr lang="en-US" sz="863" dirty="0"/>
          </a:p>
        </p:txBody>
      </p:sp>
      <p:sp>
        <p:nvSpPr>
          <p:cNvPr id="59" name="Text 56"/>
          <p:cNvSpPr/>
          <p:nvPr/>
        </p:nvSpPr>
        <p:spPr>
          <a:xfrm>
            <a:off x="11114112" y="6271320"/>
            <a:ext cx="749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863" dirty="0"/>
          </a:p>
        </p:txBody>
      </p:sp>
      <p:sp>
        <p:nvSpPr>
          <p:cNvPr id="60" name="Text 57"/>
          <p:cNvSpPr/>
          <p:nvPr/>
        </p:nvSpPr>
        <p:spPr>
          <a:xfrm>
            <a:off x="9501188" y="6652320"/>
            <a:ext cx="247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spc="45" kern="0" dirty="0">
                <a:solidFill>
                  <a:srgbClr val="29261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9501188" y="6880920"/>
            <a:ext cx="486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29261B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863" dirty="0"/>
          </a:p>
        </p:txBody>
      </p:sp>
      <p:sp>
        <p:nvSpPr>
          <p:cNvPr id="62" name="Shape 59"/>
          <p:cNvSpPr/>
          <p:nvPr/>
        </p:nvSpPr>
        <p:spPr>
          <a:xfrm>
            <a:off x="9501188" y="7081838"/>
            <a:ext cx="2400300" cy="247650"/>
          </a:xfrm>
          <a:prstGeom prst="roundRect">
            <a:avLst>
              <a:gd name="adj" fmla="val 30769"/>
            </a:avLst>
          </a:prstGeom>
          <a:solidFill>
            <a:srgbClr val="000000">
              <a:alpha val="6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10701338" y="7100888"/>
            <a:ext cx="1181100" cy="209550"/>
          </a:xfrm>
          <a:prstGeom prst="roundRect">
            <a:avLst>
              <a:gd name="adj" fmla="val 27273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12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95392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863" dirty="0"/>
          </a:p>
        </p:txBody>
      </p:sp>
      <p:sp>
        <p:nvSpPr>
          <p:cNvPr id="65" name="Text 62"/>
          <p:cNvSpPr/>
          <p:nvPr/>
        </p:nvSpPr>
        <p:spPr>
          <a:xfrm>
            <a:off x="10720388" y="7138988"/>
            <a:ext cx="1143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63" dirty="0">
                <a:solidFill>
                  <a:srgbClr val="2926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illuminated</a:t>
            </a:r>
            <a:endParaRPr lang="en-US" sz="8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2026-06-23T19:53:48Z</dcterms:created>
  <dcterms:modified xsi:type="dcterms:W3CDTF">2026-06-23T19:53:48Z</dcterms:modified>
</cp:coreProperties>
</file>